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F8"/>
    <a:srgbClr val="D0E1EA"/>
    <a:srgbClr val="F7F3E9"/>
    <a:srgbClr val="F7F7F5"/>
    <a:srgbClr val="FBFCF7"/>
    <a:srgbClr val="FAF9F7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135" y="676275"/>
            <a:ext cx="9243060" cy="2095500"/>
          </a:xfrm>
        </p:spPr>
        <p:txBody>
          <a:bodyPr>
            <a:normAutofit fontScale="90000"/>
          </a:bodyPr>
          <a:lstStyle/>
          <a:p>
            <a:br>
              <a:rPr lang="en-US" altLang="en-US" sz="4445" b="1">
                <a:latin typeface="+mj-lt"/>
                <a:cs typeface="+mj-lt"/>
              </a:rPr>
            </a:br>
            <a:br>
              <a:rPr lang="en-US" altLang="en-US" sz="4445" b="1">
                <a:latin typeface="+mj-lt"/>
                <a:cs typeface="+mj-lt"/>
              </a:rPr>
            </a:b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Поиск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возвратом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(Backtracking):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метод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проб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ошибок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решении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комбинаторных</a:t>
            </a:r>
            <a:r>
              <a:rPr lang="en-US" altLang="ru-RU" sz="4445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445" b="1">
                <a:latin typeface="Arial" panose="020B0604020202020204" pitchFamily="34" charset="0"/>
                <a:cs typeface="Arial" panose="020B0604020202020204" pitchFamily="34" charset="0"/>
              </a:rPr>
              <a:t>задач</a:t>
            </a:r>
            <a:endParaRPr lang="en-US" altLang="en-US" sz="4445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4915535" cy="1828800"/>
          </a:xfrm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Пошаговое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построение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решений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возможностью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возврата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совершении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ошибочного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выбора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Изображение 5"/>
          <p:cNvPicPr/>
          <p:nvPr/>
        </p:nvPicPr>
        <p:blipFill>
          <a:blip r:embed="rId2"/>
          <a:stretch>
            <a:fillRect/>
          </a:stretch>
        </p:blipFill>
        <p:spPr>
          <a:xfrm>
            <a:off x="8253095" y="1754505"/>
            <a:ext cx="3676650" cy="3503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Что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такое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поиск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возвратом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ru-RU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  <a:sym typeface="+mn-ea"/>
              </a:rPr>
              <a:t>Поиск с возвратом — алгоритмический подход для систематического перебора с возможностью отката к предыдущим шагам при тупиковых вариантах. Применяется для задач с ограничениями, включая головоломки и комбинаторные размещения.
</a:t>
            </a:r>
            <a:endParaRPr lang="ru-R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/>
          <a:p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История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развития</a:t>
            </a:r>
            <a:endParaRPr lang="en-US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43560" y="1838325"/>
            <a:ext cx="2931160" cy="2092960"/>
          </a:xfrm>
          <a:prstGeom prst="roundRect">
            <a:avLst/>
          </a:prstGeom>
          <a:solidFill>
            <a:srgbClr val="FAF9F7"/>
          </a:solidFill>
          <a:ln>
            <a:solidFill>
              <a:srgbClr val="FBFC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1950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Деррик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Лемер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впервые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вводит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термин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backtracking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алгоритмов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систематического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перебора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439920" y="1838325"/>
            <a:ext cx="2931160" cy="2092960"/>
          </a:xfrm>
          <a:prstGeom prst="roundRect">
            <a:avLst/>
          </a:prstGeom>
          <a:solidFill>
            <a:srgbClr val="FAF9F7"/>
          </a:solidFill>
          <a:ln>
            <a:solidFill>
              <a:srgbClr val="FBFC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1958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год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Джон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Маккарти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адаптирует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концепцию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искусственного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интеллекта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языка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Lisp</a:t>
            </a:r>
            <a:r>
              <a:rPr lang="en-US" altLang="ru-RU">
                <a:solidFill>
                  <a:schemeClr val="tx1"/>
                </a:solidFill>
                <a:latin typeface="+mj-lt"/>
                <a:cs typeface="+mj-lt"/>
                <a:sym typeface="+mn-ea"/>
              </a:rPr>
              <a:t>.</a:t>
            </a:r>
            <a:endParaRPr lang="en-US" altLang="en-US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64500" y="1825625"/>
            <a:ext cx="2931160" cy="2092960"/>
          </a:xfrm>
          <a:prstGeom prst="roundRect">
            <a:avLst/>
          </a:prstGeom>
          <a:solidFill>
            <a:srgbClr val="FAF9F7"/>
          </a:solidFill>
          <a:ln>
            <a:solidFill>
              <a:srgbClr val="FBFC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1960-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годы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начинает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активно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применяться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Logic Theorist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General Problem Solver (GPS).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064500" y="4335145"/>
            <a:ext cx="2931160" cy="2092960"/>
          </a:xfrm>
          <a:prstGeom prst="roundRect">
            <a:avLst/>
          </a:prstGeom>
          <a:solidFill>
            <a:srgbClr val="FAF9F7"/>
          </a:solidFill>
          <a:ln>
            <a:solidFill>
              <a:srgbClr val="FBFCF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1972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Поиск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возвратом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становится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фундаментом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языка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логического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программирования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Prolog.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Прямая со стрелкой 9"/>
          <p:cNvCxnSpPr>
            <a:stCxn id="6" idx="3"/>
            <a:endCxn id="7" idx="1"/>
          </p:cNvCxnSpPr>
          <p:nvPr/>
        </p:nvCxnSpPr>
        <p:spPr>
          <a:xfrm>
            <a:off x="3474720" y="2884805"/>
            <a:ext cx="965200" cy="0"/>
          </a:xfrm>
          <a:prstGeom prst="straightConnector1">
            <a:avLst/>
          </a:prstGeom>
          <a:ln w="31750" cap="rnd">
            <a:solidFill>
              <a:schemeClr val="tx1">
                <a:lumMod val="65000"/>
                <a:lumOff val="35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7099300" y="2884805"/>
            <a:ext cx="980440" cy="15875"/>
          </a:xfrm>
          <a:prstGeom prst="straightConnector1">
            <a:avLst/>
          </a:prstGeom>
          <a:ln w="31750" cap="rnd">
            <a:solidFill>
              <a:schemeClr val="tx1">
                <a:lumMod val="65000"/>
                <a:lumOff val="35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8" idx="2"/>
            <a:endCxn id="9" idx="0"/>
          </p:cNvCxnSpPr>
          <p:nvPr/>
        </p:nvCxnSpPr>
        <p:spPr>
          <a:xfrm>
            <a:off x="9530080" y="3918585"/>
            <a:ext cx="0" cy="416560"/>
          </a:xfrm>
          <a:prstGeom prst="straightConnector1">
            <a:avLst/>
          </a:prstGeom>
          <a:ln w="31750" cap="rnd">
            <a:solidFill>
              <a:schemeClr val="tx1">
                <a:lumMod val="65000"/>
                <a:lumOff val="35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Алгоритм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en-US" altLang="ru-RU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ru-RU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337945"/>
            <a:ext cx="9373235" cy="5318760"/>
          </a:xfrm>
        </p:spPr>
        <p:txBody>
          <a:bodyPr>
            <a:normAutofit/>
          </a:bodyPr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Процесс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представляет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собой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следующих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действий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Сделать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Выбрать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следующий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возможный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элемент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решения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Проверить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допустимость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Удовлетворяет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ли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этот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правилам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Идти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дальше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допустим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" altLang="en-US" sz="240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да</a:t>
            </a:r>
            <a:r>
              <a:rPr lang="" altLang="en-US" sz="240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перейти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следующему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шагу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Возврат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недопустим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" altLang="en-US" sz="240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нет</a:t>
            </a:r>
            <a:r>
              <a:rPr lang="" altLang="en-US" sz="240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вернуться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назад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повторить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выбор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предыдущем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узле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240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Завершение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нахождении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полного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решения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сохранить</a:t>
            </a:r>
            <a:r>
              <a:rPr lang="en-US" altLang="ru-RU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его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57480"/>
            <a:ext cx="10515600" cy="1426845"/>
          </a:xfrm>
        </p:spPr>
        <p:txBody>
          <a:bodyPr/>
          <a:p>
            <a:r>
              <a:rPr lang="ru-RU" altLang="en-US" sz="4000">
                <a:latin typeface="+mj-lt"/>
                <a:cs typeface="+mj-lt"/>
              </a:rPr>
              <a:t>Пример</a:t>
            </a:r>
            <a:r>
              <a:rPr lang="en-US" altLang="en-US" sz="4000">
                <a:latin typeface="+mj-lt"/>
                <a:cs typeface="+mj-lt"/>
              </a:rPr>
              <a:t>:</a:t>
            </a:r>
            <a:r>
              <a:rPr lang="ru-RU" altLang="en-US" sz="4000">
                <a:latin typeface="+mj-lt"/>
                <a:cs typeface="+mj-lt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+mj-lt"/>
                <a:ea typeface="Arial" panose="020B0604020202020204" pitchFamily="34" charset="-122"/>
                <a:cs typeface="+mj-lt"/>
                <a:sym typeface="+mn-ea"/>
              </a:rPr>
              <a:t>Задача о 8 ферзях</a:t>
            </a:r>
            <a:endParaRPr lang="en-US" altLang="en-US" sz="4000">
              <a:latin typeface="+mj-lt"/>
              <a:cs typeface="+mj-lt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84620" y="1104900"/>
            <a:ext cx="5767070" cy="5072380"/>
          </a:xfrm>
        </p:spPr>
        <p:txBody>
          <a:bodyPr>
            <a:normAutofit/>
          </a:bodyPr>
          <a:p>
            <a:r>
              <a:rPr lang="en-US" altLang="en-US" sz="2400"/>
              <a:t>Цель</a:t>
            </a:r>
            <a:r>
              <a:rPr lang="en-US" altLang="ru-RU" sz="2400"/>
              <a:t>: </a:t>
            </a:r>
            <a:r>
              <a:rPr lang="en-US" altLang="en-US" sz="2400"/>
              <a:t>Разместить</a:t>
            </a:r>
            <a:r>
              <a:rPr lang="en-US" altLang="ru-RU" sz="2400"/>
              <a:t> 8 </a:t>
            </a:r>
            <a:r>
              <a:rPr lang="en-US" altLang="en-US" sz="2400"/>
              <a:t>ферзей</a:t>
            </a:r>
            <a:r>
              <a:rPr lang="en-US" altLang="ru-RU" sz="2400"/>
              <a:t> </a:t>
            </a:r>
            <a:r>
              <a:rPr lang="en-US" altLang="en-US" sz="2400"/>
              <a:t>на</a:t>
            </a:r>
            <a:r>
              <a:rPr lang="en-US" altLang="ru-RU" sz="2400"/>
              <a:t> </a:t>
            </a:r>
            <a:r>
              <a:rPr lang="en-US" altLang="en-US" sz="2400"/>
              <a:t>шахматной</a:t>
            </a:r>
            <a:r>
              <a:rPr lang="en-US" altLang="ru-RU" sz="2400"/>
              <a:t> </a:t>
            </a:r>
            <a:r>
              <a:rPr lang="en-US" altLang="en-US" sz="2400"/>
              <a:t>доске</a:t>
            </a:r>
            <a:r>
              <a:rPr lang="en-US" altLang="ru-RU" sz="2400"/>
              <a:t> </a:t>
            </a:r>
            <a:r>
              <a:rPr lang="ru-RU" altLang="en-US" sz="2400"/>
              <a:t>8</a:t>
            </a:r>
            <a:r>
              <a:rPr lang="en-US" altLang="ru-RU" sz="2400"/>
              <a:t>x8 </a:t>
            </a:r>
            <a:r>
              <a:rPr lang="en-US" altLang="en-US" sz="2400"/>
              <a:t>так</a:t>
            </a:r>
            <a:r>
              <a:rPr lang="en-US" altLang="ru-RU" sz="2400"/>
              <a:t>, </a:t>
            </a:r>
            <a:r>
              <a:rPr lang="en-US" altLang="en-US" sz="2400"/>
              <a:t>чтобы</a:t>
            </a:r>
            <a:r>
              <a:rPr lang="en-US" altLang="ru-RU" sz="2400"/>
              <a:t> </a:t>
            </a:r>
            <a:r>
              <a:rPr lang="en-US" altLang="en-US" sz="2400"/>
              <a:t>ни</a:t>
            </a:r>
            <a:r>
              <a:rPr lang="en-US" altLang="ru-RU" sz="2400"/>
              <a:t> </a:t>
            </a:r>
            <a:r>
              <a:rPr lang="en-US" altLang="en-US" sz="2400"/>
              <a:t>один</a:t>
            </a:r>
            <a:r>
              <a:rPr lang="en-US" altLang="ru-RU" sz="2400"/>
              <a:t> </a:t>
            </a:r>
            <a:r>
              <a:rPr lang="en-US" altLang="en-US" sz="2400"/>
              <a:t>не</a:t>
            </a:r>
            <a:r>
              <a:rPr lang="en-US" altLang="ru-RU" sz="2400"/>
              <a:t> </a:t>
            </a:r>
            <a:r>
              <a:rPr lang="en-US" altLang="en-US" sz="2400"/>
              <a:t>бил</a:t>
            </a:r>
            <a:r>
              <a:rPr lang="en-US" altLang="ru-RU" sz="2400"/>
              <a:t> </a:t>
            </a:r>
            <a:r>
              <a:rPr lang="en-US" altLang="en-US" sz="2400"/>
              <a:t>другого</a:t>
            </a:r>
            <a:r>
              <a:rPr lang="en-US" altLang="ru-RU" sz="2400"/>
              <a:t> </a:t>
            </a:r>
            <a:r>
              <a:rPr lang="en-US" altLang="en-US" sz="2400"/>
              <a:t>по</a:t>
            </a:r>
            <a:r>
              <a:rPr lang="en-US" altLang="ru-RU" sz="2400"/>
              <a:t> </a:t>
            </a:r>
            <a:r>
              <a:rPr lang="en-US" altLang="en-US" sz="2400"/>
              <a:t>горизонтали</a:t>
            </a:r>
            <a:r>
              <a:rPr lang="en-US" altLang="ru-RU" sz="2400"/>
              <a:t>, </a:t>
            </a:r>
            <a:r>
              <a:rPr lang="en-US" altLang="en-US" sz="2400"/>
              <a:t>вертикали</a:t>
            </a:r>
            <a:r>
              <a:rPr lang="en-US" altLang="ru-RU" sz="2400"/>
              <a:t> </a:t>
            </a:r>
            <a:r>
              <a:rPr lang="en-US" altLang="en-US" sz="2400"/>
              <a:t>или</a:t>
            </a:r>
            <a:r>
              <a:rPr lang="en-US" altLang="ru-RU" sz="2400"/>
              <a:t> </a:t>
            </a:r>
            <a:r>
              <a:rPr lang="en-US" altLang="en-US" sz="2400"/>
              <a:t>диагонали</a:t>
            </a:r>
            <a:r>
              <a:rPr lang="en-US" altLang="ru-RU" sz="2400"/>
              <a:t>.</a:t>
            </a:r>
            <a:endParaRPr lang="en-US" altLang="ru-RU" sz="2400"/>
          </a:p>
          <a:p>
            <a:br>
              <a:rPr lang="en-US" altLang="ru-RU" sz="2400"/>
            </a:br>
            <a:r>
              <a:rPr lang="en-US" altLang="en-US" sz="2400"/>
              <a:t>Логика</a:t>
            </a:r>
            <a:r>
              <a:rPr lang="en-US" altLang="ru-RU" sz="2400"/>
              <a:t> </a:t>
            </a:r>
            <a:r>
              <a:rPr lang="en-US" altLang="en-US" sz="2400"/>
              <a:t>поиска</a:t>
            </a:r>
            <a:r>
              <a:rPr lang="en-US" altLang="ru-RU" sz="2400"/>
              <a:t>: </a:t>
            </a:r>
            <a:r>
              <a:rPr lang="en-US" altLang="en-US" sz="2400"/>
              <a:t>Алгоритм</a:t>
            </a:r>
            <a:r>
              <a:rPr lang="en-US" altLang="ru-RU" sz="2400"/>
              <a:t> </a:t>
            </a:r>
            <a:r>
              <a:rPr lang="en-US" altLang="en-US" sz="2400"/>
              <a:t>пробует</a:t>
            </a:r>
            <a:r>
              <a:rPr lang="en-US" altLang="ru-RU" sz="2400"/>
              <a:t> </a:t>
            </a:r>
            <a:r>
              <a:rPr lang="en-US" altLang="en-US" sz="2400"/>
              <a:t>позицию</a:t>
            </a:r>
            <a:r>
              <a:rPr lang="en-US" altLang="ru-RU" sz="2400"/>
              <a:t> </a:t>
            </a:r>
            <a:r>
              <a:rPr lang="en-US" altLang="en-US" sz="2400"/>
              <a:t>для</a:t>
            </a:r>
            <a:r>
              <a:rPr lang="en-US" altLang="ru-RU" sz="2400"/>
              <a:t> </a:t>
            </a:r>
            <a:r>
              <a:rPr lang="en-US" altLang="en-US" sz="2400"/>
              <a:t>ферзя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каждой</a:t>
            </a:r>
            <a:r>
              <a:rPr lang="en-US" altLang="ru-RU" sz="2400"/>
              <a:t> </a:t>
            </a:r>
            <a:r>
              <a:rPr lang="en-US" altLang="en-US" sz="2400"/>
              <a:t>новой</a:t>
            </a:r>
            <a:r>
              <a:rPr lang="en-US" altLang="ru-RU" sz="2400"/>
              <a:t> </a:t>
            </a:r>
            <a:r>
              <a:rPr lang="en-US" altLang="en-US" sz="2400"/>
              <a:t>строке</a:t>
            </a:r>
            <a:r>
              <a:rPr lang="en-US" altLang="ru-RU" sz="2400"/>
              <a:t>.</a:t>
            </a:r>
            <a:endParaRPr lang="en-US" altLang="ru-RU" sz="2400"/>
          </a:p>
          <a:p>
            <a:br>
              <a:rPr lang="en-US" altLang="ru-RU" sz="2400"/>
            </a:br>
            <a:r>
              <a:rPr lang="en-US" altLang="en-US" sz="2400"/>
              <a:t>Механизм</a:t>
            </a:r>
            <a:r>
              <a:rPr lang="en-US" altLang="ru-RU" sz="2400"/>
              <a:t> </a:t>
            </a:r>
            <a:r>
              <a:rPr lang="en-US" altLang="en-US" sz="2400"/>
              <a:t>отката</a:t>
            </a:r>
            <a:r>
              <a:rPr lang="en-US" altLang="ru-RU" sz="2400"/>
              <a:t>: </a:t>
            </a:r>
            <a:r>
              <a:rPr lang="en-US" altLang="en-US" sz="2400"/>
              <a:t>Если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очередной</a:t>
            </a:r>
            <a:r>
              <a:rPr lang="en-US" altLang="ru-RU" sz="2400"/>
              <a:t> </a:t>
            </a:r>
            <a:r>
              <a:rPr lang="en-US" altLang="en-US" sz="2400"/>
              <a:t>строке</a:t>
            </a:r>
            <a:r>
              <a:rPr lang="en-US" altLang="ru-RU" sz="2400"/>
              <a:t> </a:t>
            </a:r>
            <a:r>
              <a:rPr lang="en-US" altLang="en-US" sz="2400"/>
              <a:t>нет</a:t>
            </a:r>
            <a:r>
              <a:rPr lang="en-US" altLang="ru-RU" sz="2400"/>
              <a:t> </a:t>
            </a:r>
            <a:r>
              <a:rPr lang="en-US" altLang="en-US" sz="2400"/>
              <a:t>безопасного</a:t>
            </a:r>
            <a:r>
              <a:rPr lang="en-US" altLang="ru-RU" sz="2400"/>
              <a:t> </a:t>
            </a:r>
            <a:r>
              <a:rPr lang="en-US" altLang="en-US" sz="2400"/>
              <a:t>места</a:t>
            </a:r>
            <a:r>
              <a:rPr lang="en-US" altLang="ru-RU" sz="2400"/>
              <a:t>, </a:t>
            </a:r>
            <a:r>
              <a:rPr lang="en-US" altLang="en-US" sz="2400"/>
              <a:t>алгоритм</a:t>
            </a:r>
            <a:r>
              <a:rPr lang="en-US" altLang="ru-RU" sz="2400"/>
              <a:t> </a:t>
            </a:r>
            <a:r>
              <a:rPr lang="en-US" altLang="en-US" sz="2400"/>
              <a:t>возвращается</a:t>
            </a:r>
            <a:r>
              <a:rPr lang="en-US" altLang="ru-RU" sz="2400"/>
              <a:t> </a:t>
            </a:r>
            <a:r>
              <a:rPr lang="en-US" altLang="en-US" sz="2400"/>
              <a:t>к</a:t>
            </a:r>
            <a:r>
              <a:rPr lang="en-US" altLang="ru-RU" sz="2400"/>
              <a:t> </a:t>
            </a:r>
            <a:r>
              <a:rPr lang="en-US" altLang="en-US" sz="2400"/>
              <a:t>предыдущему</a:t>
            </a:r>
            <a:r>
              <a:rPr lang="en-US" altLang="ru-RU" sz="2400"/>
              <a:t> </a:t>
            </a:r>
            <a:r>
              <a:rPr lang="en-US" altLang="en-US" sz="2400"/>
              <a:t>ферзю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меняет</a:t>
            </a:r>
            <a:r>
              <a:rPr lang="en-US" altLang="ru-RU" sz="2400"/>
              <a:t> </a:t>
            </a:r>
            <a:r>
              <a:rPr lang="en-US" altLang="en-US" sz="2400"/>
              <a:t>его</a:t>
            </a:r>
            <a:r>
              <a:rPr lang="en-US" altLang="ru-RU" sz="2400"/>
              <a:t> </a:t>
            </a:r>
            <a:r>
              <a:rPr lang="en-US" altLang="en-US" sz="2400"/>
              <a:t>положение</a:t>
            </a:r>
            <a:r>
              <a:rPr lang="en-US" altLang="ru-RU" sz="2400"/>
              <a:t>.</a:t>
            </a:r>
            <a:endParaRPr lang="en-US" altLang="ru-RU" sz="2400"/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97305" y="1584325"/>
            <a:ext cx="4589780" cy="4123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 sz="4000"/>
              <a:t>Где применяется алгоритм</a:t>
            </a:r>
            <a:endParaRPr lang="ru-RU" altLang="ru-RU" sz="40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04800" y="4446270"/>
            <a:ext cx="3842385" cy="1010285"/>
          </a:xfrm>
        </p:spPr>
        <p:txBody>
          <a:bodyPr>
            <a:normAutofit lnSpcReduction="20000"/>
          </a:bodyPr>
          <a:p>
            <a:r>
              <a:rPr lang="en-US" altLang="en-US" sz="2400"/>
              <a:t>Головоломки</a:t>
            </a:r>
            <a:r>
              <a:rPr lang="en-US" altLang="ru-RU" sz="2400"/>
              <a:t>: </a:t>
            </a:r>
            <a:r>
              <a:rPr lang="en-US" altLang="en-US" sz="2400"/>
              <a:t>Решение</a:t>
            </a:r>
            <a:r>
              <a:rPr lang="en-US" altLang="ru-RU" sz="2400"/>
              <a:t> </a:t>
            </a:r>
            <a:r>
              <a:rPr lang="en-US" altLang="en-US" sz="2400"/>
              <a:t>Судоку</a:t>
            </a:r>
            <a:r>
              <a:rPr lang="en-US" altLang="ru-RU" sz="2400"/>
              <a:t> </a:t>
            </a:r>
            <a:r>
              <a:rPr lang="en-US" altLang="en-US" sz="2400"/>
              <a:t>и</a:t>
            </a:r>
            <a:r>
              <a:rPr lang="en-US" altLang="ru-RU" sz="2400"/>
              <a:t> </a:t>
            </a:r>
            <a:r>
              <a:rPr lang="en-US" altLang="en-US" sz="2400"/>
              <a:t>задача</a:t>
            </a:r>
            <a:r>
              <a:rPr lang="en-US" altLang="ru-RU" sz="2400"/>
              <a:t> </a:t>
            </a:r>
            <a:r>
              <a:rPr lang="en-US" altLang="en-US" sz="2400"/>
              <a:t>о</a:t>
            </a:r>
            <a:r>
              <a:rPr lang="en-US" altLang="ru-RU" sz="2400"/>
              <a:t> </a:t>
            </a:r>
            <a:r>
              <a:rPr lang="en-US" altLang="en-US" sz="2400"/>
              <a:t>раскраске</a:t>
            </a:r>
            <a:r>
              <a:rPr lang="en-US" altLang="ru-RU" sz="2400"/>
              <a:t> </a:t>
            </a:r>
            <a:r>
              <a:rPr lang="en-US" altLang="en-US" sz="2400"/>
              <a:t>графов</a:t>
            </a:r>
            <a:r>
              <a:rPr lang="en-US" altLang="ru-RU" sz="2400"/>
              <a:t>.</a:t>
            </a:r>
            <a:endParaRPr lang="en-US" altLang="ru-RU" sz="2400"/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363220" y="1584325"/>
            <a:ext cx="4018915" cy="262699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528185" y="4152265"/>
            <a:ext cx="35064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+mj-lt"/>
                <a:cs typeface="+mj-lt"/>
              </a:rPr>
              <a:t>Информационная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безопасность</a:t>
            </a:r>
            <a:r>
              <a:rPr lang="en-US" altLang="ru-RU" sz="2400">
                <a:latin typeface="+mj-lt"/>
                <a:cs typeface="+mj-lt"/>
              </a:rPr>
              <a:t>: </a:t>
            </a:r>
            <a:r>
              <a:rPr lang="en-US" altLang="en-US" sz="2400">
                <a:latin typeface="+mj-lt"/>
                <a:cs typeface="+mj-lt"/>
              </a:rPr>
              <a:t>Генерация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паролей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и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вариантов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при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тестировании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систем</a:t>
            </a:r>
            <a:r>
              <a:rPr lang="en-US" altLang="ru-RU" sz="2400">
                <a:latin typeface="+mj-lt"/>
                <a:cs typeface="+mj-lt"/>
              </a:rPr>
              <a:t>.</a:t>
            </a:r>
            <a:endParaRPr lang="en-US" altLang="ru-RU" sz="2400">
              <a:latin typeface="+mj-lt"/>
              <a:cs typeface="+mj-lt"/>
            </a:endParaRPr>
          </a:p>
        </p:txBody>
      </p:sp>
      <p:pic>
        <p:nvPicPr>
          <p:cNvPr id="7" name="Изображение 6"/>
          <p:cNvPicPr/>
          <p:nvPr/>
        </p:nvPicPr>
        <p:blipFill>
          <a:blip r:embed="rId3"/>
          <a:stretch>
            <a:fillRect/>
          </a:stretch>
        </p:blipFill>
        <p:spPr>
          <a:xfrm>
            <a:off x="4629150" y="1760220"/>
            <a:ext cx="3489325" cy="2284730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8329295" y="4211320"/>
            <a:ext cx="34683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latin typeface="+mj-lt"/>
                <a:cs typeface="+mj-lt"/>
              </a:rPr>
              <a:t>Искусственный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интеллект</a:t>
            </a:r>
            <a:r>
              <a:rPr lang="en-US" altLang="ru-RU" sz="2400">
                <a:latin typeface="+mj-lt"/>
                <a:cs typeface="+mj-lt"/>
              </a:rPr>
              <a:t>: </a:t>
            </a:r>
            <a:r>
              <a:rPr lang="en-US" altLang="en-US" sz="2400">
                <a:latin typeface="+mj-lt"/>
                <a:cs typeface="+mj-lt"/>
              </a:rPr>
              <a:t>Оптимизация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поиска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в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сложных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задачах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с</a:t>
            </a:r>
            <a:r>
              <a:rPr lang="en-US" altLang="ru-RU" sz="2400">
                <a:latin typeface="+mj-lt"/>
                <a:cs typeface="+mj-lt"/>
              </a:rPr>
              <a:t> </a:t>
            </a:r>
            <a:r>
              <a:rPr lang="en-US" altLang="en-US" sz="2400">
                <a:latin typeface="+mj-lt"/>
                <a:cs typeface="+mj-lt"/>
              </a:rPr>
              <a:t>ограничениями</a:t>
            </a:r>
            <a:r>
              <a:rPr lang="en-US" altLang="ru-RU" sz="2400">
                <a:latin typeface="+mj-lt"/>
                <a:cs typeface="+mj-lt"/>
              </a:rPr>
              <a:t>.</a:t>
            </a:r>
            <a:endParaRPr lang="en-US" altLang="ru-RU" sz="2400">
              <a:latin typeface="+mj-lt"/>
              <a:cs typeface="+mj-lt"/>
            </a:endParaRPr>
          </a:p>
        </p:txBody>
      </p:sp>
      <p:pic>
        <p:nvPicPr>
          <p:cNvPr id="9" name="Изображение 8"/>
          <p:cNvPicPr/>
          <p:nvPr/>
        </p:nvPicPr>
        <p:blipFill>
          <a:blip r:embed="rId4"/>
          <a:stretch>
            <a:fillRect/>
          </a:stretch>
        </p:blipFill>
        <p:spPr>
          <a:xfrm>
            <a:off x="8338185" y="1763395"/>
            <a:ext cx="3657600" cy="2281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566545"/>
          </a:xfrm>
        </p:spPr>
        <p:txBody>
          <a:bodyPr>
            <a:normAutofit fontScale="90000"/>
          </a:bodyPr>
          <a:p>
            <a:br>
              <a:rPr lang="en-US" sz="4890" dirty="0">
                <a:solidFill>
                  <a:srgbClr val="000000"/>
                </a:solidFill>
                <a:latin typeface="+mj-lt"/>
                <a:ea typeface="Arial" panose="020B0604020202020204" pitchFamily="34" charset="-122"/>
                <a:cs typeface="+mj-lt"/>
                <a:sym typeface="+mn-ea"/>
              </a:rPr>
            </a:br>
            <a:r>
              <a:rPr lang="en-US" sz="4445" dirty="0">
                <a:solidFill>
                  <a:srgbClr val="000000"/>
                </a:solidFill>
                <a:latin typeface="+mj-lt"/>
                <a:ea typeface="Arial" panose="020B0604020202020204" pitchFamily="34" charset="-122"/>
                <a:cs typeface="+mj-lt"/>
                <a:sym typeface="+mn-ea"/>
              </a:rPr>
              <a:t>Сравнение backtracking с другими методами перебора
</a:t>
            </a:r>
            <a:endParaRPr lang="ru-RU" altLang="en-US" sz="4445">
              <a:latin typeface="+mj-lt"/>
              <a:cs typeface="+mj-lt"/>
            </a:endParaRPr>
          </a:p>
        </p:txBody>
      </p:sp>
      <p:graphicFrame>
        <p:nvGraphicFramePr>
          <p:cNvPr id="7" name="Замещающее содержимое 6"/>
          <p:cNvGraphicFramePr/>
          <p:nvPr>
            <p:ph idx="1"/>
            <p:custDataLst>
              <p:tags r:id="rId2"/>
            </p:custDataLst>
          </p:nvPr>
        </p:nvGraphicFramePr>
        <p:xfrm>
          <a:off x="378460" y="2103120"/>
          <a:ext cx="6926580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645"/>
                <a:gridCol w="1731645"/>
                <a:gridCol w="1731645"/>
                <a:gridCol w="1731645"/>
              </a:tblGrid>
              <a:tr h="84709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Метод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Эффективность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Маштабируемость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Учет ограничений</a:t>
                      </a:r>
                      <a:endParaRPr lang="ru-RU" altLang="en-US"/>
                    </a:p>
                  </a:txBody>
                  <a:tcPr/>
                </a:tc>
              </a:tr>
              <a:tr h="8470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 sz="1800" b="1">
                          <a:latin typeface="+mj-lt"/>
                          <a:cs typeface="+mj-lt"/>
                          <a:sym typeface="+mn-ea"/>
                        </a:rPr>
                        <a:t>Backtracking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Высокая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Средняя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Полная</a:t>
                      </a:r>
                      <a:endParaRPr lang="ru-RU" altLang="en-US"/>
                    </a:p>
                  </a:txBody>
                  <a:tcPr/>
                </a:tc>
              </a:tr>
              <a:tr h="84709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ru-RU"/>
                        <a:t>Полный перебор</a:t>
                      </a:r>
                      <a:endParaRPr lang="ru-RU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Низкая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Низкая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Минимальная</a:t>
                      </a:r>
                      <a:endParaRPr lang="ru-RU" altLang="en-US"/>
                    </a:p>
                  </a:txBody>
                  <a:tcPr/>
                </a:tc>
              </a:tr>
              <a:tr h="84709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Жадные алгоритмы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Средняя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Высокая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Ограниченный</a:t>
                      </a: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Текстовое поле 7"/>
          <p:cNvSpPr txBox="1"/>
          <p:nvPr/>
        </p:nvSpPr>
        <p:spPr>
          <a:xfrm>
            <a:off x="7305040" y="1824990"/>
            <a:ext cx="4676140" cy="4274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2400" dirty="0">
                <a:solidFill>
                  <a:srgbClr val="000000"/>
                </a:solidFill>
                <a:latin typeface="+mj-lt"/>
                <a:ea typeface="Arial" panose="020B0604020202020204" pitchFamily="34" charset="-122"/>
                <a:cs typeface="+mj-lt"/>
                <a:sym typeface="+mn-ea"/>
              </a:rPr>
              <a:t>Таблица демонстрирует различия эффективности, масштабируемости и способности учитывать ограничения в алгоритмах перебора.
Backtracking эффективно исключает заведомо тупиковые варианты, экономя ресурсы по сравнению с полным перебором.
</a:t>
            </a:r>
            <a:endParaRPr lang="en-US" altLang="en-US" sz="2400" dirty="0">
              <a:solidFill>
                <a:srgbClr val="000000"/>
              </a:solidFill>
              <a:latin typeface="+mj-lt"/>
              <a:ea typeface="Arial" panose="020B0604020202020204" pitchFamily="34" charset="-122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Эффективность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вычислительная</a:t>
            </a:r>
            <a:r>
              <a:rPr lang="en-US" altLang="ru-RU"/>
              <a:t> </a:t>
            </a:r>
            <a:r>
              <a:rPr lang="en-US" altLang="en-US"/>
              <a:t>сложность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407160"/>
            <a:ext cx="10515600" cy="2216785"/>
          </a:xfrm>
        </p:spPr>
        <p:txBody>
          <a:bodyPr>
            <a:normAutofit/>
          </a:bodyPr>
          <a:p>
            <a:r>
              <a:rPr lang="en-US" altLang="en-US" sz="2400"/>
              <a:t>Использование</a:t>
            </a:r>
            <a:r>
              <a:rPr lang="en-US" altLang="ru-RU" sz="2400"/>
              <a:t> </a:t>
            </a:r>
            <a:r>
              <a:rPr lang="en-US" altLang="en-US" sz="2400"/>
              <a:t>механизма</a:t>
            </a:r>
            <a:r>
              <a:rPr lang="en-US" altLang="ru-RU" sz="2400"/>
              <a:t> </a:t>
            </a:r>
            <a:r>
              <a:rPr lang="en-US" altLang="en-US" sz="2400"/>
              <a:t>возвратов</a:t>
            </a:r>
            <a:r>
              <a:rPr lang="en-US" altLang="ru-RU" sz="2400"/>
              <a:t> </a:t>
            </a:r>
            <a:r>
              <a:rPr lang="en-US" altLang="en-US" sz="2400"/>
              <a:t>значительно</a:t>
            </a:r>
            <a:r>
              <a:rPr lang="en-US" altLang="ru-RU" sz="2400"/>
              <a:t> </a:t>
            </a:r>
            <a:r>
              <a:rPr lang="en-US" altLang="en-US" sz="2400"/>
              <a:t>снижает</a:t>
            </a:r>
            <a:r>
              <a:rPr lang="en-US" altLang="ru-RU" sz="2400"/>
              <a:t> </a:t>
            </a:r>
            <a:r>
              <a:rPr lang="en-US" altLang="en-US" sz="2400"/>
              <a:t>рост</a:t>
            </a:r>
            <a:r>
              <a:rPr lang="en-US" altLang="ru-RU" sz="2400"/>
              <a:t> </a:t>
            </a:r>
            <a:r>
              <a:rPr lang="en-US" altLang="en-US" sz="2400"/>
              <a:t>вычислительной</a:t>
            </a:r>
            <a:r>
              <a:rPr lang="en-US" altLang="ru-RU" sz="2400"/>
              <a:t> </a:t>
            </a:r>
            <a:r>
              <a:rPr lang="en-US" altLang="en-US" sz="2400"/>
              <a:t>сложности</a:t>
            </a:r>
            <a:r>
              <a:rPr lang="en-US" altLang="ru-RU" sz="2400"/>
              <a:t> </a:t>
            </a:r>
            <a:r>
              <a:rPr lang="en-US" altLang="en-US" sz="2400"/>
              <a:t>по</a:t>
            </a:r>
            <a:r>
              <a:rPr lang="en-US" altLang="ru-RU" sz="2400"/>
              <a:t> </a:t>
            </a:r>
            <a:r>
              <a:rPr lang="en-US" altLang="en-US" sz="2400"/>
              <a:t>сравнению</a:t>
            </a:r>
            <a:r>
              <a:rPr lang="en-US" altLang="ru-RU" sz="2400"/>
              <a:t> </a:t>
            </a:r>
            <a:r>
              <a:rPr lang="en-US" altLang="en-US" sz="2400"/>
              <a:t>с</a:t>
            </a:r>
            <a:r>
              <a:rPr lang="en-US" altLang="ru-RU" sz="2400"/>
              <a:t> </a:t>
            </a:r>
            <a:r>
              <a:rPr lang="en-US" altLang="en-US" sz="2400"/>
              <a:t>полным</a:t>
            </a:r>
            <a:r>
              <a:rPr lang="en-US" altLang="ru-RU" sz="2400"/>
              <a:t> </a:t>
            </a:r>
            <a:r>
              <a:rPr lang="en-US" altLang="en-US" sz="2400"/>
              <a:t>перебором</a:t>
            </a:r>
            <a:r>
              <a:rPr lang="en-US" altLang="ru-RU" sz="2400"/>
              <a:t> (brute force). </a:t>
            </a:r>
            <a:r>
              <a:rPr lang="en-US" altLang="en-US" sz="2400"/>
              <a:t>Основная</a:t>
            </a:r>
            <a:r>
              <a:rPr lang="en-US" altLang="ru-RU" sz="2400"/>
              <a:t> </a:t>
            </a:r>
            <a:r>
              <a:rPr lang="en-US" altLang="en-US" sz="2400"/>
              <a:t>идея</a:t>
            </a:r>
            <a:r>
              <a:rPr lang="en-US" altLang="ru-RU" sz="2400"/>
              <a:t> </a:t>
            </a:r>
            <a:r>
              <a:rPr lang="en-US" altLang="en-US" sz="2400"/>
              <a:t>заключается</a:t>
            </a:r>
            <a:r>
              <a:rPr lang="en-US" altLang="ru-RU" sz="2400"/>
              <a:t> </a:t>
            </a:r>
            <a:r>
              <a:rPr lang="en-US" altLang="en-US" sz="2400"/>
              <a:t>в</a:t>
            </a:r>
            <a:r>
              <a:rPr lang="en-US" altLang="ru-RU" sz="2400"/>
              <a:t> </a:t>
            </a:r>
            <a:r>
              <a:rPr lang="en-US" altLang="en-US" sz="2400"/>
              <a:t>том</a:t>
            </a:r>
            <a:r>
              <a:rPr lang="en-US" altLang="ru-RU" sz="2400"/>
              <a:t>, </a:t>
            </a:r>
            <a:r>
              <a:rPr lang="en-US" altLang="en-US" sz="2400"/>
              <a:t>что</a:t>
            </a:r>
            <a:r>
              <a:rPr lang="en-US" altLang="ru-RU" sz="2400"/>
              <a:t> backtracking </a:t>
            </a:r>
            <a:r>
              <a:rPr lang="en-US" altLang="en-US" sz="2400"/>
              <a:t>уменьшает</a:t>
            </a:r>
            <a:r>
              <a:rPr lang="en-US" altLang="ru-RU" sz="2400"/>
              <a:t> </a:t>
            </a:r>
            <a:r>
              <a:rPr lang="en-US" altLang="en-US" sz="2400"/>
              <a:t>общее</a:t>
            </a:r>
            <a:r>
              <a:rPr lang="en-US" altLang="ru-RU" sz="2400"/>
              <a:t> </a:t>
            </a:r>
            <a:r>
              <a:rPr lang="en-US" altLang="en-US" sz="2400"/>
              <a:t>время</a:t>
            </a:r>
            <a:r>
              <a:rPr lang="en-US" altLang="ru-RU" sz="2400"/>
              <a:t> </a:t>
            </a:r>
            <a:r>
              <a:rPr lang="en-US" altLang="en-US" sz="2400"/>
              <a:t>решения</a:t>
            </a:r>
            <a:r>
              <a:rPr lang="en-US" altLang="ru-RU" sz="2400"/>
              <a:t> </a:t>
            </a:r>
            <a:r>
              <a:rPr lang="en-US" altLang="en-US" sz="2400"/>
              <a:t>за</a:t>
            </a:r>
            <a:r>
              <a:rPr lang="en-US" altLang="ru-RU" sz="2400"/>
              <a:t> </a:t>
            </a:r>
            <a:r>
              <a:rPr lang="en-US" altLang="en-US" sz="2400"/>
              <a:t>счёт</a:t>
            </a:r>
            <a:r>
              <a:rPr lang="en-US" altLang="ru-RU" sz="2400"/>
              <a:t> </a:t>
            </a:r>
            <a:r>
              <a:rPr lang="en-US" altLang="en-US" sz="2400"/>
              <a:t>раннего</a:t>
            </a:r>
            <a:r>
              <a:rPr lang="en-US" altLang="ru-RU" sz="2400"/>
              <a:t> </a:t>
            </a:r>
            <a:r>
              <a:rPr lang="" altLang="en-US" sz="2400"/>
              <a:t>«</a:t>
            </a:r>
            <a:r>
              <a:rPr lang="en-US" altLang="en-US" sz="2400"/>
              <a:t>отсечения</a:t>
            </a:r>
            <a:r>
              <a:rPr lang="" altLang="en-US" sz="2400"/>
              <a:t>»</a:t>
            </a:r>
            <a:r>
              <a:rPr lang="en-US" altLang="ru-RU" sz="2400"/>
              <a:t> (pruning) </a:t>
            </a:r>
            <a:r>
              <a:rPr lang="en-US" altLang="en-US" sz="2400"/>
              <a:t>бессмысленных</a:t>
            </a:r>
            <a:r>
              <a:rPr lang="en-US" altLang="ru-RU" sz="2400"/>
              <a:t> </a:t>
            </a:r>
            <a:r>
              <a:rPr lang="en-US" altLang="en-US" sz="2400"/>
              <a:t>ветвей</a:t>
            </a:r>
            <a:r>
              <a:rPr lang="en-US" altLang="ru-RU" sz="2400"/>
              <a:t> </a:t>
            </a:r>
            <a:r>
              <a:rPr lang="en-US" altLang="en-US" sz="2400"/>
              <a:t>дерева</a:t>
            </a:r>
            <a:r>
              <a:rPr lang="en-US" altLang="ru-RU" sz="2400"/>
              <a:t> </a:t>
            </a:r>
            <a:r>
              <a:rPr lang="en-US" altLang="en-US" sz="2400"/>
              <a:t>поиска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47700" y="3169285"/>
            <a:ext cx="10580370" cy="3134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+mj-lt"/>
                <a:cs typeface="+mj-lt"/>
                <a:sym typeface="+mn-ea"/>
              </a:rPr>
              <a:t>Сравнительный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анализ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сложности</a:t>
            </a:r>
            <a:r>
              <a:rPr lang="ru-RU" altLang="en-US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Согласно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теоретическим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исследованиям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можно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выделить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следующие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закономерности</a:t>
            </a:r>
            <a:r>
              <a:rPr lang="en-US" altLang="ru-RU" sz="2400">
                <a:latin typeface="+mj-lt"/>
                <a:cs typeface="+mj-lt"/>
                <a:sym typeface="+mn-ea"/>
              </a:rPr>
              <a:t>:</a:t>
            </a:r>
            <a:endParaRPr lang="en-US" altLang="ru-RU" sz="2400">
              <a:latin typeface="+mj-lt"/>
              <a:cs typeface="+mj-lt"/>
              <a:sym typeface="+mn-ea"/>
            </a:endParaRPr>
          </a:p>
          <a:p>
            <a:r>
              <a:rPr lang="en-US" altLang="en-US" sz="2400">
                <a:latin typeface="+mj-lt"/>
                <a:cs typeface="+mj-lt"/>
                <a:sym typeface="+mn-ea"/>
              </a:rPr>
              <a:t>Полный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перебор</a:t>
            </a:r>
            <a:r>
              <a:rPr lang="en-US" altLang="ru-RU" sz="2400">
                <a:latin typeface="+mj-lt"/>
                <a:cs typeface="+mj-lt"/>
                <a:sym typeface="+mn-ea"/>
              </a:rPr>
              <a:t>: </a:t>
            </a:r>
            <a:r>
              <a:rPr lang="en-US" altLang="en-US" sz="2400">
                <a:latin typeface="+mj-lt"/>
                <a:cs typeface="+mj-lt"/>
                <a:sym typeface="+mn-ea"/>
              </a:rPr>
              <a:t>Исследует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абсолютно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все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возможные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комбинации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что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часто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приводит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сложности</a:t>
            </a:r>
            <a:r>
              <a:rPr lang="en-US" altLang="ru-RU" sz="2400">
                <a:latin typeface="+mj-lt"/>
                <a:cs typeface="+mj-lt"/>
                <a:sym typeface="+mn-ea"/>
              </a:rPr>
              <a:t> O(b^n), </a:t>
            </a:r>
            <a:r>
              <a:rPr lang="en-US" altLang="en-US" sz="2400">
                <a:latin typeface="+mj-lt"/>
                <a:cs typeface="+mj-lt"/>
                <a:sym typeface="+mn-ea"/>
              </a:rPr>
              <a:t>где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b —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количество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вариантов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на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каждом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шаге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а</a:t>
            </a:r>
            <a:r>
              <a:rPr lang="en-US" altLang="ru-RU" sz="2400">
                <a:latin typeface="+mj-lt"/>
                <a:cs typeface="+mj-lt"/>
                <a:sym typeface="+mn-ea"/>
              </a:rPr>
              <a:t> n — </a:t>
            </a:r>
            <a:r>
              <a:rPr lang="en-US" altLang="en-US" sz="2400">
                <a:latin typeface="+mj-lt"/>
                <a:cs typeface="+mj-lt"/>
                <a:sym typeface="+mn-ea"/>
              </a:rPr>
              <a:t>глубина</a:t>
            </a:r>
            <a:r>
              <a:rPr lang="en-US" altLang="ru-RU" sz="2400">
                <a:latin typeface="+mj-lt"/>
                <a:cs typeface="+mj-lt"/>
                <a:sym typeface="+mn-ea"/>
              </a:rPr>
              <a:t>.</a:t>
            </a:r>
            <a:endParaRPr lang="en-US" altLang="ru-RU" sz="2400">
              <a:latin typeface="+mj-lt"/>
              <a:cs typeface="+mj-lt"/>
              <a:sym typeface="+mn-ea"/>
            </a:endParaRPr>
          </a:p>
          <a:p>
            <a:endParaRPr lang="en-US" altLang="ru-RU" sz="2400">
              <a:latin typeface="+mj-lt"/>
              <a:cs typeface="+mj-lt"/>
              <a:sym typeface="+mn-ea"/>
            </a:endParaRPr>
          </a:p>
          <a:p>
            <a:r>
              <a:rPr lang="en-US" altLang="ru-RU" sz="2400">
                <a:latin typeface="+mj-lt"/>
                <a:cs typeface="+mj-lt"/>
                <a:sym typeface="+mn-ea"/>
              </a:rPr>
              <a:t>Backtracking: </a:t>
            </a:r>
            <a:r>
              <a:rPr lang="en-US" altLang="en-US" sz="2400">
                <a:latin typeface="+mj-lt"/>
                <a:cs typeface="+mj-lt"/>
                <a:sym typeface="+mn-ea"/>
              </a:rPr>
              <a:t>Хотя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худшем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случае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сложность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остается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экспоненциальной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на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практике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время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работы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сокращается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разы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так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как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алгоритм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прекращает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движение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по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ветке</a:t>
            </a:r>
            <a:r>
              <a:rPr lang="en-US" altLang="ru-RU" sz="2400">
                <a:latin typeface="+mj-lt"/>
                <a:cs typeface="+mj-lt"/>
                <a:sym typeface="+mn-ea"/>
              </a:rPr>
              <a:t>, </a:t>
            </a:r>
            <a:r>
              <a:rPr lang="en-US" altLang="en-US" sz="2400">
                <a:latin typeface="+mj-lt"/>
                <a:cs typeface="+mj-lt"/>
                <a:sym typeface="+mn-ea"/>
              </a:rPr>
              <a:t>как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только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нарушается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хотя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бы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одно</a:t>
            </a:r>
            <a:r>
              <a:rPr lang="en-US" altLang="ru-RU" sz="2400">
                <a:latin typeface="+mj-lt"/>
                <a:cs typeface="+mj-lt"/>
                <a:sym typeface="+mn-ea"/>
              </a:rPr>
              <a:t> </a:t>
            </a:r>
            <a:r>
              <a:rPr lang="en-US" altLang="en-US" sz="2400">
                <a:latin typeface="+mj-lt"/>
                <a:cs typeface="+mj-lt"/>
                <a:sym typeface="+mn-ea"/>
              </a:rPr>
              <a:t>ограничение</a:t>
            </a:r>
            <a:endParaRPr lang="en-US" altLang="en-US" sz="2400">
              <a:latin typeface="+mj-lt"/>
              <a:cs typeface="+mj-lt"/>
            </a:endParaRPr>
          </a:p>
          <a:p>
            <a:endParaRPr lang="ru-RU" altLang="en-US" sz="24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 sz="4000"/>
              <a:t>Поиск с возвратом сейчас</a:t>
            </a:r>
            <a:endParaRPr lang="ru-RU" altLang="ru-RU" sz="40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dirty="0">
                <a:solidFill>
                  <a:srgbClr val="000000"/>
                </a:solidFill>
                <a:latin typeface="+mj-lt"/>
                <a:ea typeface="Arial" panose="020B0604020202020204" pitchFamily="34" charset="-122"/>
                <a:cs typeface="+mj-lt"/>
                <a:sym typeface="+mn-ea"/>
              </a:rPr>
              <a:t>Метод поиска с возвратом обеспечивает эффективное решение комбинированных задач с ограничениями и широко применяется в искусственном интеллекте и программировании для оптимизации поиска.
</a:t>
            </a:r>
            <a:endParaRPr lang="en-US" sz="2400" dirty="0">
              <a:latin typeface="+mj-lt"/>
              <a:cs typeface="+mj-lt"/>
            </a:endParaRPr>
          </a:p>
          <a:p>
            <a:endParaRPr lang="ru-RU" altLang="en-US" sz="24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45*266"/>
  <p:tag name="TABLE_ENDDRAG_RECT" val="29*165*545*2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3341</Words>
  <Application>WPS Presentation</Application>
  <PresentationFormat>宽屏</PresentationFormat>
  <Paragraphs>94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Arial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Egor Katushov</dc:creator>
  <cp:lastModifiedBy>WPS_1774885286</cp:lastModifiedBy>
  <cp:revision>4</cp:revision>
  <dcterms:created xsi:type="dcterms:W3CDTF">2025-07-23T00:59:00Z</dcterms:created>
  <dcterms:modified xsi:type="dcterms:W3CDTF">2026-03-30T16:48:43Z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1049-12.1.0.25242</vt:lpwstr>
  </property>
  <property fmtid="{D5CDD505-2E9C-101B-9397-08002B2CF9AE}" pid="3" name="ICV">
    <vt:lpwstr>58E7053B5F9B4CB6B5B9D5A042B3905D_11</vt:lpwstr>
  </property>
</Properties>
</file>